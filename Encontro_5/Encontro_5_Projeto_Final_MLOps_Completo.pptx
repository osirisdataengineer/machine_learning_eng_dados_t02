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8851392" y="0"/>
            <a:ext cx="3337560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  <a:latin typeface="Georgia"/>
              </a:rPr>
              <a:t>UNIFOR · PÓS-GRADUAÇÃO LATO SENSU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eorgia"/>
              </a:rPr>
              <a:t>Machine Learning para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42032"/>
            <a:ext cx="69494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Projeto Final
MLOps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736592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C107"/>
                </a:solidFill>
                <a:latin typeface="Georgia"/>
              </a:rPr>
              <a:t>Do notebook ao pipeline em produção · Passos 1 a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172200"/>
            <a:ext cx="5852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CD6E4"/>
                </a:solidFill>
                <a:latin typeface="Georgia"/>
              </a:rPr>
              <a:t>Prof. Cassio Pinheiro  ·  cassiopo7@gmail.com  ·  Universidade de Fortaleza</a:t>
            </a:r>
          </a:p>
        </p:txBody>
      </p:sp>
      <p:pic>
        <p:nvPicPr>
          <p:cNvPr id="9" name="Picture 8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950208"/>
            <a:ext cx="384048" cy="384048"/>
          </a:xfrm>
          <a:prstGeom prst="rect">
            <a:avLst/>
          </a:prstGeom>
        </p:spPr>
      </p:pic>
      <p:pic>
        <p:nvPicPr>
          <p:cNvPr id="10" name="Picture 9" descr="trans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3950208"/>
            <a:ext cx="384048" cy="384048"/>
          </a:xfrm>
          <a:prstGeom prst="rect">
            <a:avLst/>
          </a:prstGeom>
        </p:spPr>
      </p:pic>
      <p:pic>
        <p:nvPicPr>
          <p:cNvPr id="11" name="Picture 10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950208"/>
            <a:ext cx="384048" cy="384048"/>
          </a:xfrm>
          <a:prstGeom prst="rect">
            <a:avLst/>
          </a:prstGeom>
        </p:spPr>
      </p:pic>
      <p:pic>
        <p:nvPicPr>
          <p:cNvPr id="12" name="Picture 11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3950208"/>
            <a:ext cx="384048" cy="384048"/>
          </a:xfrm>
          <a:prstGeom prst="rect">
            <a:avLst/>
          </a:prstGeom>
        </p:spPr>
      </p:pic>
      <p:pic>
        <p:nvPicPr>
          <p:cNvPr id="13" name="Picture 12" descr="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950208"/>
            <a:ext cx="384048" cy="384048"/>
          </a:xfrm>
          <a:prstGeom prst="rect">
            <a:avLst/>
          </a:prstGeom>
        </p:spPr>
      </p:pic>
      <p:pic>
        <p:nvPicPr>
          <p:cNvPr id="14" name="Picture 13" descr="jobli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3950208"/>
            <a:ext cx="384048" cy="384048"/>
          </a:xfrm>
          <a:prstGeom prst="rect">
            <a:avLst/>
          </a:prstGeom>
        </p:spPr>
      </p:pic>
      <p:pic>
        <p:nvPicPr>
          <p:cNvPr id="15" name="Picture 14" descr="pay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84" y="395020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06840" y="749808"/>
            <a:ext cx="27889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C107"/>
                </a:solidFill>
                <a:latin typeface="Georgia"/>
              </a:rPr>
              <a:t>ENCONTR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417320"/>
            <a:ext cx="685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C107"/>
                </a:solidFill>
                <a:latin typeface="Georgia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048256"/>
            <a:ext cx="1051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C107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Plano da Aula de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Teoria objetiva + acompanhamento das práticas + pitch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2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A"/>
                </a:solidFill>
                <a:latin typeface="Arial"/>
              </a:rPr>
              <a:t>Dinâmica das 3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800600" cy="3383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Relembrar o que foi definido no Encontro 4: métricas e projeto final.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Orientar cada equipe pelos passos 1 a 7 do notebook.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Circular verificando decisões técnicas, erros de leakage e métrica correta.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Reservar o fim da aula para pitch e checagem dos entregáveis.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27048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A"/>
                </a:solidFill>
                <a:latin typeface="Arial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00600" cy="3383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Notebook executável do início ao fim.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Pipeline scikit-learn com ColumnTransformer + modelo.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Busca de hiperparâmetros feita dentro do pipeline.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Arquivo .joblib e função predizer_[projeto](payload).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806440"/>
            <a:ext cx="10561320" cy="384048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897880"/>
            <a:ext cx="9784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Mensagem central: não basta treinar um modelo; a entrega precisa ser reprodutível, validável e simulável em produção.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Os 6 Projetos e Suas Métricas-Alvo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Cada equipe segue uma trilha, mas todas entregam a mesma arquitetura técnica.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3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536192"/>
            <a:ext cx="621792" cy="621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1527048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P1 · Precificação de Imóveis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Regressão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3B7A"/>
                </a:solidFill>
                <a:latin typeface="Arial"/>
              </a:rPr>
              <a:t>RMSE &lt; 70k ou R² &gt; .70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1536192"/>
            <a:ext cx="621792" cy="621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59" y="1527048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P2 · Risco de Queimadas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82880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Classificação binária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BE3C32"/>
                </a:solidFill>
                <a:latin typeface="Arial"/>
              </a:rPr>
              <a:t>F1 incêndio &gt; .65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4320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953512"/>
            <a:ext cx="621792" cy="621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2944368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P3 · Diagnóstico de Saúde Pública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461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Classificação binária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4612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C7E79"/>
                </a:solidFill>
                <a:latin typeface="Arial"/>
              </a:rPr>
              <a:t>Recall doença &gt; .80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4320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1" y="2953512"/>
            <a:ext cx="621792" cy="6217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59" y="2944368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P4 · Classificação de Dígitos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2461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Multiclasse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74CA3"/>
                </a:solidFill>
                <a:latin typeface="Arial"/>
              </a:rPr>
              <a:t>Balanced Accuracy &gt; .90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370832"/>
            <a:ext cx="621792" cy="6217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45920" y="4361688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P5 · Churn em Telecom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66344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Classificação desbalanceada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66344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E2AA2D"/>
                </a:solidFill>
                <a:latin typeface="Arial"/>
              </a:rPr>
              <a:t>AUC-ROC &gt; .80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6052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1" y="4370832"/>
            <a:ext cx="621792" cy="6217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23759" y="4361688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P6 · Custos Médicos Individuais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59" y="466344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Regressão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66344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368B52"/>
                </a:solidFill>
                <a:latin typeface="Arial"/>
              </a:rPr>
              <a:t>R² &gt; .75 ou MAE &lt; 3k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870448"/>
            <a:ext cx="10469880" cy="292608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934456"/>
            <a:ext cx="98755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Arial"/>
              </a:rPr>
              <a:t>Pergunta orientadora: a métrica escolhida traduz o risco de negócio do projeto?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Estrutura Recomendada do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O roteiro que cada equipe deve implementar, testar e explicar no pitch.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664208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Carga +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X/y e train_test_split antes de qualquer transformação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ans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664208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67712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ColumnTransformer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numéricas e categóricas tratadas separadamente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664208"/>
            <a:ext cx="566928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95344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Pipeline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preprocessador + estimador acoplados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58383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1664208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22975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Busca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GridSearchCV ou RandomizedSearchCV no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6016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1664208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50608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744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Avaliação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métrica alvo calculada no teste isolado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13648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jobli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1976" y="1664208"/>
            <a:ext cx="566928" cy="5669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78240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376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Serialização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joblib.dump do pipeline final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1417320"/>
            <a:ext cx="1325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y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9607" y="1664208"/>
            <a:ext cx="566928" cy="566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405872" y="23774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555555"/>
                </a:solidFill>
                <a:latin typeface="Arial"/>
              </a:rPr>
              <a:t>Passo 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7" y="2743200"/>
            <a:ext cx="10698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Produção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9296" y="3401568"/>
            <a:ext cx="1024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55555"/>
                </a:solidFill>
                <a:latin typeface="Arial"/>
              </a:rPr>
              <a:t>payload bruto -&gt; DataFrame -&gt; predict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559552"/>
            <a:ext cx="10607040" cy="530352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715000"/>
            <a:ext cx="9784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Regra de ouro: tudo que aprende com os dados deve ser ajustado somente no treino. O teste fica intocado até a avaliação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Passo 1: Split Imediato e Prevenção de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A primeira decisão do notebook protege a validade de todo o experimento.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960120" cy="960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20240" y="1325880"/>
            <a:ext cx="42976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52704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A"/>
                </a:solidFill>
                <a:latin typeface="Arial"/>
              </a:rPr>
              <a:t>O que verificar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20240"/>
            <a:ext cx="3840480" cy="2011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Separação de X e y logo após a carga.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train_test_split com random_state fixo.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stratify=y nos projetos de classificação quando aplicável.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325880"/>
            <a:ext cx="4800600" cy="2788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90472"/>
            <a:ext cx="4434840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Menlo"/>
              </a:rPr>
              <a:t>X = df.drop(columns=[target])
y = df[target]
X_train, X_test, y_train, y_test = train_test_split(
    X, y, test_size=0.25,
    random_state=42, stratify=y
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561320" cy="65836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E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0176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E3C32"/>
                </a:solidFill>
                <a:latin typeface="Arial"/>
              </a:rPr>
              <a:t>Penalidade crítica: fillna, get_dummies, scaler ou seleção de atributos aplicados na base inteira antes do split indicam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Passos 2 e 3: Pré-processador + Modelo no Mesmo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A engenharia do scikit-learn precisa ser declarativa e reaproveitável.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9888"/>
            <a:ext cx="868680" cy="868680"/>
          </a:xfrm>
          <a:prstGeom prst="rect">
            <a:avLst/>
          </a:prstGeom>
        </p:spPr>
      </p:pic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87168"/>
            <a:ext cx="868680" cy="868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874519" y="1325880"/>
            <a:ext cx="43434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527048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7E79"/>
                </a:solidFill>
                <a:latin typeface="Arial"/>
              </a:rPr>
              <a:t>ColumnTransformer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3886200" cy="2350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Pipeline numérico: imputação por mediana e escala quando fizer sentido.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Pipeline categórico: imputação por moda e OneHotEncoder(handle_unknown="ignore").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Justificar escolhas conforme o dataset da equipe.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54880" cy="3127248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90472"/>
            <a:ext cx="438912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Menlo"/>
              </a:rPr>
              <a:t>preprocessor = ColumnTransformer([
    ('num', numeric_pipe, num_cols),
    ('cat', categorical_pipe, cat_cols)
])
pipe = Pipeline([
    ('prep', preprocessor),
    ('model', estimador)
])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38928"/>
            <a:ext cx="10561320" cy="457200"/>
          </a:xfrm>
          <a:prstGeom prst="roundRect">
            <a:avLst/>
          </a:prstGeom>
          <a:solidFill>
            <a:srgbClr val="EEF9F8"/>
          </a:solidFill>
          <a:ln w="12700">
            <a:solidFill>
              <a:srgbClr val="1C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85232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C7E79"/>
                </a:solidFill>
                <a:latin typeface="Arial"/>
              </a:rPr>
              <a:t>Pergunta de sala: se eu receber um dado bruto amanhã, esse pipeline sabe tratar e predizer sem código manual extra?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Passos 4 e 5: Otimização e Avaliação Fiel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A métrica-alvo define o que significa “bom modelo” em cada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7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3B7A"/>
                </a:solidFill>
                <a:latin typeface="Arial"/>
              </a:rPr>
              <a:t>Busca de hiperparâmetros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006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Comparar no mínimo dois algoritmos.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Executar GridSearchCV ou RandomizedSearchCV acoplado ao pipeline.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Usar nomes de parâmetros com prefixo da etapa: model__max_depth.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27048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E3C32"/>
                </a:solidFill>
                <a:latin typeface="Arial"/>
              </a:rPr>
              <a:t>Avaliação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006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Avaliar somente sobre X_test.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Apresentar tabela comparando modelos.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Reportar a métrica exigida no projeto: F1, Recall, Balanced Accuracy, AUC-ROC, RMSE, MAE ou R².</a:t>
            </a:r>
          </a:p>
        </p:txBody>
      </p:sp>
      <p:pic>
        <p:nvPicPr>
          <p:cNvPr id="13" name="Picture 1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5138928"/>
            <a:ext cx="502920" cy="502920"/>
          </a:xfrm>
          <a:prstGeom prst="rect">
            <a:avLst/>
          </a:prstGeom>
        </p:spPr>
      </p:pic>
      <p:pic>
        <p:nvPicPr>
          <p:cNvPr id="14" name="Picture 13" descr="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5138928"/>
            <a:ext cx="502920" cy="502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" y="5779008"/>
            <a:ext cx="10561320" cy="329184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861304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1A1A1A"/>
                </a:solidFill>
                <a:latin typeface="Arial"/>
              </a:rPr>
              <a:t>A avaliação só é honesta quando o teste não participou da preparação, da busca nem das decisões de engenharia.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Passos 6 e 7: Serialização e Simulação de Produção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A entrega final precisa funcionar fora do fluxo interativo do notebook.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8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ob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53312"/>
            <a:ext cx="822960" cy="822960"/>
          </a:xfrm>
          <a:prstGeom prst="rect">
            <a:avLst/>
          </a:prstGeom>
        </p:spPr>
      </p:pic>
      <p:pic>
        <p:nvPicPr>
          <p:cNvPr id="8" name="Picture 7" descr="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5728"/>
            <a:ext cx="822960" cy="822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874519" y="132588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52704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674CA3"/>
                </a:solidFill>
                <a:latin typeface="Arial"/>
              </a:rPr>
              <a:t>Entregável de engenharia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393192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Salvar o Pipeline completo treinado com joblib.dump().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Carregar o arquivo em disco dentro da função de predição.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Receber payload bruto em dicionário Python.</a:t>
            </a:r>
          </a:p>
          <a:p>
            <a:pPr>
              <a:spcAft>
                <a:spcPts val="500"/>
              </a:spcAft>
              <a:defRPr sz="1230">
                <a:solidFill>
                  <a:srgbClr val="1A1A1A"/>
                </a:solidFill>
                <a:latin typeface="Arial"/>
              </a:defRPr>
            </a:pPr>
            <a:r>
              <a:t>• Converter para DataFrame de uma linha e predizer.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54880" cy="3200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90472"/>
            <a:ext cx="43891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Menlo"/>
              </a:rPr>
              <a:t>joblib.dump(best_model, 'pipeline_projeto.joblib')
def predizer_projeto(payload):
    pipe = joblib.load('pipeline_projeto.joblib')
    entrada = pd.DataFrame([payload])
    return pipe.predict(entrada)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85232"/>
            <a:ext cx="10561320" cy="502920"/>
          </a:xfrm>
          <a:prstGeom prst="roundRect">
            <a:avLst/>
          </a:prstGeom>
          <a:solidFill>
            <a:srgbClr val="EEF9F8"/>
          </a:solidFill>
          <a:ln w="12700">
            <a:solidFill>
              <a:srgbClr val="1C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40680"/>
            <a:ext cx="9784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C7E79"/>
                </a:solidFill>
                <a:latin typeface="Arial"/>
              </a:rPr>
              <a:t>Teste mínimo: simular payload com valor nulo ou campo ausente e confirmar que a função não quebra.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Georgia"/>
              </a:rPr>
              <a:t>Checklist Final Antes do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71323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O que precisa estar pronto até o fim do 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Encontro 5 · Projeto Final MLOps · Prof. Cassio Pinheiro · UNIFOR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55555"/>
                </a:solidFill>
                <a:latin typeface="Arial"/>
              </a:rPr>
              <a:t>9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1155680" cy="27432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29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48132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2855"/>
                </a:solidFill>
                <a:latin typeface="Arial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481328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executa de cima a baixo, com comentários e gráficos.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029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48132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2855"/>
                </a:solidFill>
                <a:latin typeface="Arial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1481328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ColumnTransformer + modelo em um único objeto.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41448"/>
            <a:ext cx="5029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59689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2855"/>
                </a:solidFill>
                <a:latin typeface="Arial"/>
              </a:rPr>
              <a:t>Métrica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596896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resultado final no teste e comparação entre modelos.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41448"/>
            <a:ext cx="5029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59689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2855"/>
                </a:solidFill>
                <a:latin typeface="Arial"/>
              </a:rPr>
              <a:t>Joblib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596896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arquivo pipeline_[projeto].joblib salvo e carregável.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57015"/>
            <a:ext cx="5029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712463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2855"/>
                </a:solidFill>
                <a:latin typeface="Arial"/>
              </a:rPr>
              <a:t>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712463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função predizer_[projeto](payload) testada.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57015"/>
            <a:ext cx="5029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712463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2855"/>
                </a:solidFill>
                <a:latin typeface="Arial"/>
              </a:rPr>
              <a:t>Resumo executivo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3712463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1 a 2 páginas com arquitetura, resultado e limitações.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93792"/>
            <a:ext cx="10561320" cy="658368"/>
          </a:xfrm>
          <a:prstGeom prst="roundRect">
            <a:avLst/>
          </a:prstGeom>
          <a:solidFill>
            <a:srgbClr val="FFF9E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41324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Pitch de 3 minutos: problema e dataset · engenharia analítica · modelos e busca · resultado · demonstração da inferência.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44768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Arial"/>
              </a:rPr>
              <a:t>Entrega: notebook.ipynb + pipeline_[projeto].joblib + resumo executivo.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